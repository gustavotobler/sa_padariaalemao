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9"/>
  </p:notesMasterIdLst>
  <p:sldIdLst>
    <p:sldId id="256" r:id="rId5"/>
    <p:sldId id="561" r:id="rId6"/>
    <p:sldId id="551" r:id="rId7"/>
    <p:sldId id="567" r:id="rId8"/>
    <p:sldId id="568" r:id="rId9"/>
    <p:sldId id="569" r:id="rId10"/>
    <p:sldId id="570" r:id="rId11"/>
    <p:sldId id="563" r:id="rId12"/>
    <p:sldId id="562" r:id="rId13"/>
    <p:sldId id="565" r:id="rId14"/>
    <p:sldId id="552" r:id="rId15"/>
    <p:sldId id="553" r:id="rId16"/>
    <p:sldId id="571" r:id="rId17"/>
    <p:sldId id="572" r:id="rId18"/>
    <p:sldId id="557" r:id="rId19"/>
    <p:sldId id="573" r:id="rId20"/>
    <p:sldId id="574" r:id="rId21"/>
    <p:sldId id="575" r:id="rId22"/>
    <p:sldId id="576" r:id="rId23"/>
    <p:sldId id="577" r:id="rId24"/>
    <p:sldId id="559" r:id="rId25"/>
    <p:sldId id="564" r:id="rId26"/>
    <p:sldId id="560" r:id="rId27"/>
    <p:sldId id="548" r:id="rId28"/>
  </p:sldIdLst>
  <p:sldSz cx="12192000" cy="6858000"/>
  <p:notesSz cx="6858000" cy="9144000"/>
  <p:embeddedFontLst>
    <p:embeddedFont>
      <p:font typeface="Aharoni" panose="02010803020104030203" pitchFamily="2" charset="-79"/>
      <p:bold r:id="rId30"/>
    </p:embeddedFont>
    <p:embeddedFont>
      <p:font typeface="Arial Black" panose="020B0A04020102020204" pitchFamily="34" charset="0"/>
      <p:bold r:id="rId31"/>
    </p:embeddedFont>
    <p:embeddedFont>
      <p:font typeface="Branding Black" panose="00000A00000000000000" charset="0"/>
      <p:bold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3333FF"/>
    <a:srgbClr val="E7428F"/>
    <a:srgbClr val="005CA8"/>
    <a:srgbClr val="14233C"/>
    <a:srgbClr val="00FF99"/>
    <a:srgbClr val="0000CC"/>
    <a:srgbClr val="14143C"/>
    <a:srgbClr val="FFFFFF"/>
    <a:srgbClr val="0635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196" autoAdjust="0"/>
  </p:normalViewPr>
  <p:slideViewPr>
    <p:cSldViewPr snapToGrid="0">
      <p:cViewPr varScale="1">
        <p:scale>
          <a:sx n="62" d="100"/>
          <a:sy n="62" d="100"/>
        </p:scale>
        <p:origin x="1020" y="6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E9325-8DA9-46CE-96CB-F32884D73040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F7F27-17E6-486A-807B-6CDDD6006C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82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425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F7F27-17E6-486A-807B-6CDDD6006C1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528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62BDF-55A3-4359-BA31-FE5A87078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6755FA-CE4D-4C1E-A2DB-8B523A438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36673-EAD0-4ECD-9F10-0439BB84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2FC3D2-526E-4C2B-865F-3445215C1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8C97B-E882-4DD1-9D4A-082710D8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40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2B4F5-F576-4336-AB2C-79756B59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EB364-8B5D-498F-AA08-28AC6DDFA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C703B3-D1A9-4247-A00F-3B2728F6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F5DB94-B547-4728-AC1C-E53065D2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EA2F54-2E27-4953-BACE-AE13B0E2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22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EB7F82-3D00-4F26-8981-57D79D7C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A372C0-6A2C-432B-9089-477965669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4E79C-E377-4DA2-809C-2DD48049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CC8312-30D6-40A6-AE5E-22D0D153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2D5530-B4A4-4B7E-BE04-F268B757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551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EAA91-972E-43AD-935B-FF3C50D5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24CBC-A609-407D-B2EB-20429A723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39730-187A-4DC3-A51D-7C0C7F01D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1C629C-E5A5-4A51-A963-0D3CDD8A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A29704-CF6F-4C1C-8121-F60577AA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04E341-3670-4B07-93A9-D98AC0BDB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9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65CFC-6AAC-40F7-A918-5854BFFC8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DA649A-2E95-478C-A5A1-722AA7A0B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3F62C3-8649-4D0B-B304-2947739B4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0198DCF-49F7-4573-89EE-9E805C709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AAB5089-9445-4E46-814C-10BAC4C50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1CF16FB-52AB-47A5-90F8-0005AFA92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46CDFE-9004-47E6-A90F-2D8FA4CA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F2D4C0-ACC1-495C-A975-3EC3663D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1295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F23C3-2049-4956-902E-96979F19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02D2F5-936E-47EF-B814-EC21D013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3F4FC0-4572-49B8-BA7B-0A4E429C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C829344-4808-4C1A-9050-839C50AF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63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CC7297-4CB5-43CC-A966-E66AA7E8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4364DA-502F-4EC2-A1D3-BD6E92B1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6589A4-E47B-49F0-AA39-43659716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028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DA515-43EF-43CF-8E42-5F33E40A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761A49-343C-43CA-BB81-D49E53738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5682B4-8B98-4DB7-85BB-EA8DB8CD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9E9BBA-C075-4623-AB75-D29177584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F9C316-E81A-46C8-9C6A-904DEBD6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51C8F5-E3ED-461E-9FE9-B58E2C44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3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E232B-D5E6-4D1F-9B63-C8BA5073A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2495430-687C-4BEC-B052-693A7F372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3F74E9-A123-48F0-93EA-D084BBABC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852C1B-FAA1-440A-89BC-EBC619598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B23D3-7B13-4A89-90D9-CA9426D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2D7791-FAE3-445A-BE6D-F96A2DF1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78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ABBD3-4ADB-47C2-ACCE-C2C4A14E5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386541-0DA2-433C-8B93-B6F82AD13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DDCCF4-C36D-4AB0-B312-FD43FE5AF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0D0A6B-71DF-4DF7-9DDB-85AD33E14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88E9C3-E0FA-408B-BA96-FC61415C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18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151F0B3-9322-40CD-A0D6-06C5123A4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9A878F-C9A0-47F4-BBC6-725E9B679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A7D25A-E614-471D-85C8-F8EC1CCAC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E81F79-DF67-42CB-9203-6B07D1FF2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DEDA0E-35E4-40CC-A120-47D810AF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449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437514-29E1-4584-9726-F84BB3B9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81F8FE-BF05-42FE-8B1E-007684C32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37ED45-0F6A-4268-8038-905D90C3B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1D2C6-0C19-402A-B6FC-03CA42DF813C}" type="datetimeFigureOut">
              <a:rPr lang="pt-BR" smtClean="0"/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BE3C11-BBE0-4DD0-B0F8-9CE7F5C40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0BBF59-9448-4D5E-8ABB-608DFDEFF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B69A22-6C8A-4A08-A396-F88B819753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386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svg"/><Relationship Id="rId7" Type="http://schemas.openxmlformats.org/officeDocument/2006/relationships/image" Target="../media/image2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35" y="-4373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848196" y="1962948"/>
            <a:ext cx="8495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PADARIA 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DO </a:t>
            </a:r>
          </a:p>
          <a:p>
            <a:pPr algn="ctr"/>
            <a:r>
              <a:rPr lang="pt-BR" sz="6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ALEMÃO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9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áfico 30">
            <a:extLst>
              <a:ext uri="{FF2B5EF4-FFF2-40B4-BE49-F238E27FC236}">
                <a16:creationId xmlns:a16="http://schemas.microsoft.com/office/drawing/2014/main" id="{387D7B04-38D4-43A1-942E-DBDEFA30FE6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4" y="0"/>
            <a:ext cx="12191999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6A0833-91DC-45B9-A758-824340ACCF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email">
            <a:alphaModFix amt="14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328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835" y="-4373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99259C4F-44DB-4F28-B050-2EE4A3DB24D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1290" y="964986"/>
            <a:ext cx="1648409" cy="427365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DCBD100D-4F3A-4EC6-BFDE-71DBBBB7BB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0417" y="4779072"/>
            <a:ext cx="4053843" cy="553120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63B02180-6B20-4B70-AE1D-148F68EFF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11083" y="11399"/>
            <a:ext cx="671804" cy="4244718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8E332E39-6653-49DB-87FF-5E98C408AD16}"/>
              </a:ext>
            </a:extLst>
          </p:cNvPr>
          <p:cNvSpPr txBox="1"/>
          <p:nvPr/>
        </p:nvSpPr>
        <p:spPr>
          <a:xfrm>
            <a:off x="1641230" y="1868784"/>
            <a:ext cx="98698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MATHEUS RODRIGUES</a:t>
            </a:r>
          </a:p>
          <a:p>
            <a:pPr algn="ctr"/>
            <a:r>
              <a:rPr lang="pt-BR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IAN LUCAS BORBA</a:t>
            </a:r>
          </a:p>
          <a:p>
            <a:pPr algn="ctr"/>
            <a:r>
              <a:rPr lang="pt-BR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JOÃO PAULO VARALDO</a:t>
            </a:r>
          </a:p>
          <a:p>
            <a:pPr algn="ctr"/>
            <a:r>
              <a:rPr lang="pt-BR" sz="4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GUSTAVO TOBLER</a:t>
            </a:r>
          </a:p>
        </p:txBody>
      </p:sp>
      <p:pic>
        <p:nvPicPr>
          <p:cNvPr id="51" name="Gráfico 50">
            <a:extLst>
              <a:ext uri="{FF2B5EF4-FFF2-40B4-BE49-F238E27FC236}">
                <a16:creationId xmlns:a16="http://schemas.microsoft.com/office/drawing/2014/main" id="{F8B76AC7-B5BF-414C-9191-D81145C292A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24350" y="454039"/>
            <a:ext cx="404970" cy="1099553"/>
          </a:xfrm>
          <a:prstGeom prst="rect">
            <a:avLst/>
          </a:prstGeom>
        </p:spPr>
      </p:pic>
      <p:sp>
        <p:nvSpPr>
          <p:cNvPr id="54" name="Retângulo 53">
            <a:extLst>
              <a:ext uri="{FF2B5EF4-FFF2-40B4-BE49-F238E27FC236}">
                <a16:creationId xmlns:a16="http://schemas.microsoft.com/office/drawing/2014/main" id="{926383AD-AE9B-45BC-817E-5C255055B3B5}"/>
              </a:ext>
            </a:extLst>
          </p:cNvPr>
          <p:cNvSpPr/>
          <p:nvPr/>
        </p:nvSpPr>
        <p:spPr>
          <a:xfrm>
            <a:off x="1641230" y="1830152"/>
            <a:ext cx="9856671" cy="30014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1DD70F1-243D-4569-AE61-1AF027E6DF8A}"/>
              </a:ext>
            </a:extLst>
          </p:cNvPr>
          <p:cNvSpPr/>
          <p:nvPr/>
        </p:nvSpPr>
        <p:spPr>
          <a:xfrm>
            <a:off x="1139345" y="52529"/>
            <a:ext cx="360125" cy="4779072"/>
          </a:xfrm>
          <a:prstGeom prst="rect">
            <a:avLst/>
          </a:prstGeom>
          <a:gradFill>
            <a:gsLst>
              <a:gs pos="0">
                <a:srgbClr val="12ACB1"/>
              </a:gs>
              <a:gs pos="100000">
                <a:srgbClr val="17C3C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39AC20-D6DF-9838-26A6-06F2461FE7CF}"/>
              </a:ext>
            </a:extLst>
          </p:cNvPr>
          <p:cNvSpPr txBox="1"/>
          <p:nvPr/>
        </p:nvSpPr>
        <p:spPr>
          <a:xfrm>
            <a:off x="240417" y="6002487"/>
            <a:ext cx="3231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b="1" dirty="0">
                <a:ln>
                  <a:solidFill>
                    <a:srgbClr val="002060"/>
                  </a:solidFill>
                </a:ln>
                <a:solidFill>
                  <a:schemeClr val="bg1"/>
                </a:solidFill>
                <a:latin typeface="Branding Black" panose="00000A00000000000000" pitchFamily="50" charset="0"/>
              </a:rPr>
              <a:t>Prof. Sergio Luiz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4BE00B7-45F4-6CE4-B171-F47517ABD2CD}"/>
              </a:ext>
            </a:extLst>
          </p:cNvPr>
          <p:cNvGrpSpPr/>
          <p:nvPr/>
        </p:nvGrpSpPr>
        <p:grpSpPr>
          <a:xfrm>
            <a:off x="6001019" y="5840400"/>
            <a:ext cx="6096000" cy="1127121"/>
            <a:chOff x="714916" y="6184918"/>
            <a:chExt cx="6096000" cy="112712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41A1557-6D28-2FF9-7557-C160ED235D4C}"/>
                </a:ext>
              </a:extLst>
            </p:cNvPr>
            <p:cNvGrpSpPr/>
            <p:nvPr/>
          </p:nvGrpSpPr>
          <p:grpSpPr>
            <a:xfrm>
              <a:off x="4507903" y="6184918"/>
              <a:ext cx="2133600" cy="1127121"/>
              <a:chOff x="11316237" y="4704108"/>
              <a:chExt cx="2133600" cy="1127121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B79AF74E-23E7-CC04-7147-EF32507A0548}"/>
                  </a:ext>
                </a:extLst>
              </p:cNvPr>
              <p:cNvSpPr/>
              <p:nvPr/>
            </p:nvSpPr>
            <p:spPr>
              <a:xfrm>
                <a:off x="11411888" y="5024846"/>
                <a:ext cx="1909150" cy="48564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pic>
            <p:nvPicPr>
              <p:cNvPr id="8" name="Picture 2" descr="FIESC">
                <a:extLst>
                  <a:ext uri="{FF2B5EF4-FFF2-40B4-BE49-F238E27FC236}">
                    <a16:creationId xmlns:a16="http://schemas.microsoft.com/office/drawing/2014/main" id="{F69147E4-F541-C503-7CDA-10142697A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316237" y="4704108"/>
                <a:ext cx="2133600" cy="11271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BE9F89A4-E230-578B-02A3-8F02DE4AFF8F}"/>
                </a:ext>
              </a:extLst>
            </p:cNvPr>
            <p:cNvGrpSpPr/>
            <p:nvPr/>
          </p:nvGrpSpPr>
          <p:grpSpPr>
            <a:xfrm>
              <a:off x="714916" y="6969796"/>
              <a:ext cx="6096000" cy="276999"/>
              <a:chOff x="7167967" y="7007403"/>
              <a:chExt cx="6096000" cy="276999"/>
            </a:xfrm>
          </p:grpSpPr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53DD76F8-FEDE-0490-8FD6-FC99520FA603}"/>
                  </a:ext>
                </a:extLst>
              </p:cNvPr>
              <p:cNvSpPr/>
              <p:nvPr/>
            </p:nvSpPr>
            <p:spPr>
              <a:xfrm>
                <a:off x="7167967" y="7054587"/>
                <a:ext cx="6096000" cy="182632"/>
              </a:xfrm>
              <a:prstGeom prst="rect">
                <a:avLst/>
              </a:prstGeom>
              <a:solidFill>
                <a:srgbClr val="005CA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rgbClr val="14143C"/>
                  </a:solidFill>
                </a:endParaRPr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46A4467-A1FC-CB2D-A849-25EA6842EE93}"/>
                  </a:ext>
                </a:extLst>
              </p:cNvPr>
              <p:cNvSpPr txBox="1"/>
              <p:nvPr/>
            </p:nvSpPr>
            <p:spPr>
              <a:xfrm>
                <a:off x="11239794" y="7007403"/>
                <a:ext cx="157592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b="1" i="1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SESI – SENAI - IEL</a:t>
                </a:r>
              </a:p>
            </p:txBody>
          </p:sp>
        </p:grpSp>
      </p:grpSp>
      <p:pic>
        <p:nvPicPr>
          <p:cNvPr id="32" name="Gráfico 31">
            <a:extLst>
              <a:ext uri="{FF2B5EF4-FFF2-40B4-BE49-F238E27FC236}">
                <a16:creationId xmlns:a16="http://schemas.microsoft.com/office/drawing/2014/main" id="{7848A1A8-D520-4632-B97C-09189953164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4098" y="449246"/>
            <a:ext cx="73342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4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BE6C731-78CF-43DC-65CF-DE97769BB70B}"/>
              </a:ext>
            </a:extLst>
          </p:cNvPr>
          <p:cNvSpPr txBox="1"/>
          <p:nvPr/>
        </p:nvSpPr>
        <p:spPr>
          <a:xfrm>
            <a:off x="992529" y="168050"/>
            <a:ext cx="103115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latin typeface="Verdana" panose="020B0604030504040204" pitchFamily="34" charset="0"/>
                <a:ea typeface="Verdana" panose="020B0604030504040204" pitchFamily="34" charset="0"/>
              </a:rPr>
              <a:t>INTRODUÇÃO SOBRE O SISTEMA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255C27-3230-6480-C0B5-5ED1874C2DEC}"/>
              </a:ext>
            </a:extLst>
          </p:cNvPr>
          <p:cNvSpPr txBox="1"/>
          <p:nvPr/>
        </p:nvSpPr>
        <p:spPr>
          <a:xfrm>
            <a:off x="1093825" y="1045884"/>
            <a:ext cx="100043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	Nosso sistema envolve a automatização de uma padaria, promovendo melhorias como, o acesso aos produtos, vendas e outros que o compõem , como funcionários e fornecedores(opções que apenas o usuário admin pode visualizar).</a:t>
            </a:r>
          </a:p>
          <a:p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	Com este projeto, pode-se manejar com facilidade os relatórios mensais, e semanais de vendas, possibilitando o controle dos produtos presentes em estoque.</a:t>
            </a:r>
          </a:p>
        </p:txBody>
      </p:sp>
    </p:spTree>
    <p:extLst>
      <p:ext uri="{BB962C8B-B14F-4D97-AF65-F5344CB8AC3E}">
        <p14:creationId xmlns:p14="http://schemas.microsoft.com/office/powerpoint/2010/main" val="116943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3935B-C406-F9B6-043F-A7EB37AC8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081822-36BE-DE1C-12EA-F24AA45C2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74BDE4-6E9C-7FBB-3AFD-4E47CAED8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51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249D2-4591-7C39-39D8-52146907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62EDA5-BFCE-7F36-683D-0C05FEB8D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087CAAA-3187-D960-3536-E559F1F01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0284B-628F-DC49-E04C-FD7E7C23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081941-5C36-B330-2E98-44121404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237D373-6D3C-F999-37F2-E4907CFEA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7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0ABAE-ED43-9DCD-08D6-94888D58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62A96-2D98-4461-01B5-D9F723886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F41FE2C-71A4-24F6-3501-5B7D20427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5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ECF0A-8B0A-06FA-C31C-9BB8F620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2795" y="0"/>
            <a:ext cx="1686409" cy="1224366"/>
          </a:xfrm>
        </p:spPr>
        <p:txBody>
          <a:bodyPr>
            <a:normAutofit/>
          </a:bodyPr>
          <a:lstStyle/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</a:rPr>
              <a:t>MER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4C6A5C-1574-F8B2-F4B7-6992391B4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793" y="1808767"/>
            <a:ext cx="9934414" cy="35846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dirty="0"/>
              <a:t>O MER representa o sistema de gestão da padaria do senhor Genival, com o foco em funcionários, vendas, produtos e fornecedores. Funcionários realizam vendas, que envolvem produtos fornecidos por fornecedores. As compras ligam produtos às vendas. O modelo organiza as informações para controle eficiente de vendas, estoque e fornecedores.</a:t>
            </a:r>
            <a:endParaRPr lang="pt-BR" sz="3200" b="1" dirty="0"/>
          </a:p>
        </p:txBody>
      </p:sp>
    </p:spTree>
    <p:extLst>
      <p:ext uri="{BB962C8B-B14F-4D97-AF65-F5344CB8AC3E}">
        <p14:creationId xmlns:p14="http://schemas.microsoft.com/office/powerpoint/2010/main" val="403052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6C5CF-E3C7-F701-DB28-E90FE42C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6F850F6B-34F6-535E-9771-687BDE37D3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EF63CA42-ACF1-1676-1CED-61338D59FC4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DE966A8-B7D2-966E-B718-3A710BF1A1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F1C1ECF8-3025-9226-261F-523F0FC2A36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FB836086-2904-EA49-8B81-7D4C0EADFE0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0A9DAA64-FB2D-7C64-1CB8-0DA633E5C1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F8B1D4-971C-3EE5-D361-DD416B336123}"/>
              </a:ext>
            </a:extLst>
          </p:cNvPr>
          <p:cNvSpPr txBox="1"/>
          <p:nvPr/>
        </p:nvSpPr>
        <p:spPr>
          <a:xfrm>
            <a:off x="535358" y="198722"/>
            <a:ext cx="111212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  <a:t>MER</a:t>
            </a:r>
          </a:p>
        </p:txBody>
      </p:sp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A04CC927-723E-61B8-2349-8949BE43A4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18" y="909941"/>
            <a:ext cx="10656630" cy="490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26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23844F-A535-C259-46F0-F3E92F4A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088" y="241138"/>
            <a:ext cx="2071607" cy="1325563"/>
          </a:xfrm>
        </p:spPr>
        <p:txBody>
          <a:bodyPr/>
          <a:lstStyle/>
          <a:p>
            <a:r>
              <a:rPr lang="pt-BR" b="1" dirty="0">
                <a:latin typeface="Verdana" panose="020B0604030504040204" pitchFamily="34" charset="0"/>
                <a:ea typeface="Verdana" panose="020B0604030504040204" pitchFamily="34" charset="0"/>
              </a:rPr>
              <a:t>MRN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2289B6B-3DEF-4D07-D92B-1DE78692B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90" y="2293749"/>
            <a:ext cx="11808419" cy="24952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  O MRN (Modelo Relacional Normalizado) do Banco de Dados da padaria, é a representação gráfica que vai descrever a estrutura do banco de dados, utilizando as tabelas (entidades), seus atributos e os relacionamentos entre elas.</a:t>
            </a:r>
          </a:p>
        </p:txBody>
      </p:sp>
    </p:spTree>
    <p:extLst>
      <p:ext uri="{BB962C8B-B14F-4D97-AF65-F5344CB8AC3E}">
        <p14:creationId xmlns:p14="http://schemas.microsoft.com/office/powerpoint/2010/main" val="2719972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0BFF9FC-13A5-2497-E5D0-DB508CE1327B}"/>
              </a:ext>
            </a:extLst>
          </p:cNvPr>
          <p:cNvSpPr txBox="1"/>
          <p:nvPr/>
        </p:nvSpPr>
        <p:spPr>
          <a:xfrm>
            <a:off x="535358" y="333210"/>
            <a:ext cx="111212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  <a:t>MRN</a:t>
            </a:r>
          </a:p>
        </p:txBody>
      </p:sp>
      <p:pic>
        <p:nvPicPr>
          <p:cNvPr id="9" name="Imagem 8" descr="Diagrama&#10;&#10;O conteúdo gerado por IA pode estar incorreto.">
            <a:extLst>
              <a:ext uri="{FF2B5EF4-FFF2-40B4-BE49-F238E27FC236}">
                <a16:creationId xmlns:a16="http://schemas.microsoft.com/office/drawing/2014/main" id="{7A37ADAE-DF22-3955-AAA3-DBE7841BE1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22" y="985597"/>
            <a:ext cx="10449821" cy="514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2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624C3C0-A954-5E1F-6BB9-50EF569EDAA8}"/>
              </a:ext>
            </a:extLst>
          </p:cNvPr>
          <p:cNvSpPr txBox="1"/>
          <p:nvPr/>
        </p:nvSpPr>
        <p:spPr>
          <a:xfrm>
            <a:off x="535358" y="221280"/>
            <a:ext cx="111212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atin typeface="Verdana" panose="020B0604030504040204" pitchFamily="34" charset="0"/>
                <a:ea typeface="Verdana" panose="020B0604030504040204" pitchFamily="34" charset="0"/>
              </a:rPr>
              <a:t>DICIONARIO DO BANCO DE DADOS</a:t>
            </a:r>
          </a:p>
          <a:p>
            <a:pPr algn="ctr"/>
            <a:endParaRPr lang="pt-BR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4B2E6265-36B7-0AF0-B87A-E7AF76E156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020373" y="383453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FB09C01-FF8A-5543-87BF-78B655F07F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729" y="3073732"/>
            <a:ext cx="11121284" cy="135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60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225F5-A4A9-BAE8-D884-2ADD7781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  <a:t>DICIONARIO DO BANCO DE DADOS</a:t>
            </a:r>
            <a:b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pt-BR" dirty="0"/>
          </a:p>
        </p:txBody>
      </p:sp>
      <p:pic>
        <p:nvPicPr>
          <p:cNvPr id="5" name="Espaço Reservado para Conteúdo 4" descr="Uma imagem contendo Linha do tempo&#10;&#10;O conteúdo gerado por IA pode estar incorreto.">
            <a:extLst>
              <a:ext uri="{FF2B5EF4-FFF2-40B4-BE49-F238E27FC236}">
                <a16:creationId xmlns:a16="http://schemas.microsoft.com/office/drawing/2014/main" id="{26A0B3D7-4FDA-EFEE-33BF-2FA3BD16A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96" y="1170686"/>
            <a:ext cx="10862152" cy="4784011"/>
          </a:xfr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3A54634A-9721-91D1-E98F-3591A9EDAEC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C1644071-34C4-E3C4-75D3-31FE2DE2DD23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8" name="Picture 2" descr="FIESC">
              <a:extLst>
                <a:ext uri="{FF2B5EF4-FFF2-40B4-BE49-F238E27FC236}">
                  <a16:creationId xmlns:a16="http://schemas.microsoft.com/office/drawing/2014/main" id="{816F041B-CD01-1027-6539-90F70B7101D0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13E1B73B-04B0-C547-E22C-6D6FAF127C88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254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D5133-F988-D645-ACEF-0E3902AB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48859"/>
            <a:ext cx="11353800" cy="1325563"/>
          </a:xfrm>
        </p:spPr>
        <p:txBody>
          <a:bodyPr/>
          <a:lstStyle/>
          <a:p>
            <a:r>
              <a:rPr lang="pt-BR" sz="4400" b="1" dirty="0">
                <a:latin typeface="Verdana" panose="020B0604030504040204" pitchFamily="34" charset="0"/>
                <a:ea typeface="Verdana" panose="020B0604030504040204" pitchFamily="34" charset="0"/>
              </a:rPr>
              <a:t>DICIONARIO DO BANCO DE DADOS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B862BF04-8E83-54CB-D2A3-D9566F08F20F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7EEA5BB0-6B8F-EE4D-F313-BB25907BE5B2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6" name="Picture 2" descr="FIESC">
              <a:extLst>
                <a:ext uri="{FF2B5EF4-FFF2-40B4-BE49-F238E27FC236}">
                  <a16:creationId xmlns:a16="http://schemas.microsoft.com/office/drawing/2014/main" id="{F395767A-BB91-DD51-1291-72AA99A5F6E7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C14EAB2-D034-7168-07AC-C3C8420C60E7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1026" name="Picture 2" descr="AGAZnRpSgTDFVg0MmL3ddsPWLem27Bl9vmgoIz12f7Qpt7Z653tmi7sgVToqXgg06UId4wriBzg03upYuxPXSChwwD10JNETraWJMi1PxIyYigrzW4YxQ1D-2a5wF8W4e_sJutsSh-UfijpoiHQOPFXkgj9qAJShwsrjfpVTYpUkB_4ra8hep08sNIJpfD3bDdJ4H4x4TfhkwIY7nUy4QT3YpxI3DZlrTOg5K_X5fUyfSb--eBD_9G9knbhFY8HIP7-6KjcKUyxiehKrkCeaiVljNqvYFvFfCj4YNjldGjEZG-ChHaIzUbSTHq2UBzsbgJkPejrZSvSUdvRPHGzCx0D3KSpJM7MinZIkVkkMHVNCbEiQn4U294T-R_fNa9th9WjMmr2FdS9b5tlaWLfGSBrRZ7QFdZm89PMY-n1M1z1usBQOmS74WvmmeYMspPXK3ESLlb8JNDBAmo4y3wr0XO2X85MNK1zLyoamuKPtb7scv9vyn3Js17vE_sCtFhuGCSXGG3UD20Wmgm6-7ICah3FRb5B6TkWWpFzBy3rxwIY3BiP4eqXOgjWwJ-TIqFeTrheDfr1vA1CGzr01rDutfD4ix9B-SNBZ928t-_1aS4NVnRGkngbgalqwd5HX9Aa4pVFjY2I-q3mmlr1Bk9O9Xi_302t8FmmCU5Yx_K19FzVOol3yIwvcG5D5_7TAELfMCuEFn_IKZi8enqhsLIwx1F-GhEka1R72uQH8RoKkHK7H8vYFLmY-IV5TXe-Vulf7AP3L3wEnBvnZFyxxPoq1ezgEzdzsn8-MX3LYJdp6COaG9Eq5QZombULSNynLmnDfuGTQz-SPtbPrXX-dwO_23t6QUfojPx-_EfntzMQudYiiml6bKOYZubcN77qimGgjyuk4KLcXL6pSsJiUQIZIGAOr67F287hCJNqrkn0ME8--UXYph8JW2CzeS6LGy3s-9uXxysDuZs1FegI82g74m8DE_b7xnuCKPSCK8tIeY5gsqSF1i2sPUeNDhnMmdW7rlG-eCb1IsjifOt2EhqGhmlYp_CjU1pyRHPwbeA=s0-l75-ft (1294×148)">
            <a:extLst>
              <a:ext uri="{FF2B5EF4-FFF2-40B4-BE49-F238E27FC236}">
                <a16:creationId xmlns:a16="http://schemas.microsoft.com/office/drawing/2014/main" id="{D1D1E156-4FB5-06B6-8033-AA49A2330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32088"/>
            <a:ext cx="12192000" cy="198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55A145BF-F673-9AF5-D866-A7E8A128340F}"/>
              </a:ext>
            </a:extLst>
          </p:cNvPr>
          <p:cNvSpPr>
            <a:spLocks/>
          </p:cNvSpPr>
          <p:nvPr>
            <p:ph idx="1"/>
          </p:nvPr>
        </p:nvSpPr>
        <p:spPr>
          <a:xfrm flipV="1">
            <a:off x="0" y="-1146875"/>
            <a:ext cx="10515600" cy="1118034"/>
          </a:xfr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417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pic>
        <p:nvPicPr>
          <p:cNvPr id="17" name="Imagem 1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E21A65DF-CA8B-6354-78F7-1F68C6BA9B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64" y="1150818"/>
            <a:ext cx="7298469" cy="1944379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57710221-7562-A7A8-D815-6FECCE3E1340}"/>
              </a:ext>
            </a:extLst>
          </p:cNvPr>
          <p:cNvSpPr txBox="1"/>
          <p:nvPr/>
        </p:nvSpPr>
        <p:spPr>
          <a:xfrm>
            <a:off x="3245349" y="318725"/>
            <a:ext cx="5701300" cy="772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Verdana" panose="020B0604030504040204" pitchFamily="34" charset="0"/>
                <a:ea typeface="Verdana" panose="020B0604030504040204" pitchFamily="34" charset="0"/>
              </a:rPr>
              <a:t>Consulta com Join</a:t>
            </a:r>
          </a:p>
        </p:txBody>
      </p:sp>
      <p:pic>
        <p:nvPicPr>
          <p:cNvPr id="20" name="Imagem 19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D0E5746A-681B-EBA6-8D27-2FCF7F550E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64" y="4140364"/>
            <a:ext cx="7356262" cy="167427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14B8AB3E-A138-328A-05F9-8FE5D07F21E4}"/>
              </a:ext>
            </a:extLst>
          </p:cNvPr>
          <p:cNvSpPr txBox="1"/>
          <p:nvPr/>
        </p:nvSpPr>
        <p:spPr>
          <a:xfrm>
            <a:off x="2948791" y="3045444"/>
            <a:ext cx="64462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latin typeface="Verdana" panose="020B0604030504040204" pitchFamily="34" charset="0"/>
                <a:ea typeface="Verdana" panose="020B0604030504040204" pitchFamily="34" charset="0"/>
              </a:rPr>
              <a:t>O que ira nos trazer?</a:t>
            </a:r>
          </a:p>
        </p:txBody>
      </p:sp>
    </p:spTree>
    <p:extLst>
      <p:ext uri="{BB962C8B-B14F-4D97-AF65-F5344CB8AC3E}">
        <p14:creationId xmlns:p14="http://schemas.microsoft.com/office/powerpoint/2010/main" val="984659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EB8E0-5D5E-02EA-14A0-5DCCCD361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589D85-14C7-CBD4-334F-4AEFF31E5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80" y="1873492"/>
            <a:ext cx="8181813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207EEE-EF20-DDA0-FD58-6903B1C6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329620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51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AA11E-FD70-7051-63B8-D4842DF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93" y="256637"/>
            <a:ext cx="8181813" cy="1014225"/>
          </a:xfrm>
        </p:spPr>
        <p:txBody>
          <a:bodyPr>
            <a:normAutofit/>
          </a:bodyPr>
          <a:lstStyle/>
          <a:p>
            <a:r>
              <a:rPr lang="pt-BR" sz="5400" b="1" dirty="0"/>
              <a:t>COMANDO PARA CADASTRAR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7C6EAA-0392-5D68-1AE8-A7E2B4AC2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4963" y="2851687"/>
            <a:ext cx="1574370" cy="3518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pic>
        <p:nvPicPr>
          <p:cNvPr id="12" name="Imagem 1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DF29E08-E6A5-9DB2-DA20-CC5531176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8934" y="1723626"/>
            <a:ext cx="3394129" cy="487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68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87F53-1130-0D0C-C11C-5316E9CC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E53AF2-7E54-A131-5AE9-475AF00B3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F905477-6777-3C13-8B76-1AAC17C53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88" y="604686"/>
            <a:ext cx="10407112" cy="2172003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03E4A31D-881E-A54F-1E3A-7A16A77ADA15}"/>
              </a:ext>
            </a:extLst>
          </p:cNvPr>
          <p:cNvSpPr/>
          <p:nvPr/>
        </p:nvSpPr>
        <p:spPr>
          <a:xfrm>
            <a:off x="9717437" y="1219727"/>
            <a:ext cx="650929" cy="31460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0463C59-BE02-891C-B7F5-4275B6059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1294"/>
            <a:ext cx="10515600" cy="137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437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279D-6075-078E-B515-2ABAAA9B6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210" y="365124"/>
            <a:ext cx="7859579" cy="1325563"/>
          </a:xfrm>
        </p:spPr>
        <p:txBody>
          <a:bodyPr/>
          <a:lstStyle/>
          <a:p>
            <a:r>
              <a:rPr lang="pt-BR" dirty="0"/>
              <a:t>COMANDO PARA ALTERAR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EAAA57-B73C-96AA-B06B-282C29466488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792480" y="1690687"/>
            <a:ext cx="45719" cy="13493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1D70ED-D7E0-81AD-4788-0262F75E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025" y="2244893"/>
            <a:ext cx="5805948" cy="23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07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AA7EB-0240-9815-0856-2156BE34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11" y="3099661"/>
            <a:ext cx="2989880" cy="1111062"/>
          </a:xfrm>
        </p:spPr>
        <p:txBody>
          <a:bodyPr>
            <a:normAutofit/>
          </a:bodyPr>
          <a:lstStyle/>
          <a:p>
            <a:r>
              <a:rPr lang="pt-BR" dirty="0"/>
              <a:t>COMANDO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96B5C6-F847-DA3F-313C-B64A48DF7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167" y="1376175"/>
            <a:ext cx="91698" cy="15815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36EEB0-88C1-BE13-7E91-8CFDFF02D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7" y="847463"/>
            <a:ext cx="11247185" cy="1255974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00A4B466-4B80-D4CA-72EF-57268EA67F77}"/>
              </a:ext>
            </a:extLst>
          </p:cNvPr>
          <p:cNvSpPr/>
          <p:nvPr/>
        </p:nvSpPr>
        <p:spPr>
          <a:xfrm>
            <a:off x="11096787" y="2048698"/>
            <a:ext cx="387458" cy="86748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34AB27-6BF4-8B12-56B2-4B51FEBF8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07" y="4370763"/>
            <a:ext cx="5164941" cy="111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42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8510107-E3C6-DF5A-475A-F560311510F8}"/>
              </a:ext>
            </a:extLst>
          </p:cNvPr>
          <p:cNvSpPr txBox="1"/>
          <p:nvPr/>
        </p:nvSpPr>
        <p:spPr>
          <a:xfrm>
            <a:off x="615428" y="3136612"/>
            <a:ext cx="111212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CONCLUSAO</a:t>
            </a:r>
          </a:p>
        </p:txBody>
      </p:sp>
    </p:spTree>
    <p:extLst>
      <p:ext uri="{BB962C8B-B14F-4D97-AF65-F5344CB8AC3E}">
        <p14:creationId xmlns:p14="http://schemas.microsoft.com/office/powerpoint/2010/main" val="436553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73CC40-DB2D-F71B-B34B-663E38216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49" y="719313"/>
            <a:ext cx="11947903" cy="39242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      Com a implementação do sistema, foi possível otimizar significativamente as atividades da Padaria do Alemão, reduzindo o trabalho manual e aumentando a eficiência operacional. Todos os colaboradores passaram a desempenhar suas funções com maior produtividade, refletindo diretamente no crescimento das vendas. A divulgação da padaria também foi fortalecida, contribuindo para a expansão do negócio. Atualmente, a padaria colhe os frutos desse investimento, consolidando-se como uma referência no segmento de panificação.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34EFAE0-FA9F-C75B-95C8-BACB1D17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48" y="400050"/>
            <a:ext cx="11231752" cy="948303"/>
          </a:xfrm>
        </p:spPr>
        <p:txBody>
          <a:bodyPr/>
          <a:lstStyle/>
          <a:p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355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13C881EA-D14C-496A-470D-88F74C42C6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" y="187683"/>
            <a:ext cx="614265" cy="42447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50B366E-ADF9-41FB-D956-C09E85EEAAD6}"/>
              </a:ext>
            </a:extLst>
          </p:cNvPr>
          <p:cNvSpPr txBox="1"/>
          <p:nvPr/>
        </p:nvSpPr>
        <p:spPr>
          <a:xfrm>
            <a:off x="622464" y="518606"/>
            <a:ext cx="111212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AGRADECIMENTOS</a:t>
            </a:r>
          </a:p>
          <a:p>
            <a:pPr algn="ctr"/>
            <a:endParaRPr lang="pt-BR" sz="3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dirty="0">
                <a:latin typeface="Verdana" panose="020B0604030504040204" pitchFamily="34" charset="0"/>
                <a:ea typeface="Verdana" panose="020B0604030504040204" pitchFamily="34" charset="0"/>
              </a:rPr>
              <a:t>Professor Sérgio Luiz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CD01029-EC77-1199-DA6E-FB5507F72699}"/>
              </a:ext>
            </a:extLst>
          </p:cNvPr>
          <p:cNvSpPr txBox="1"/>
          <p:nvPr/>
        </p:nvSpPr>
        <p:spPr>
          <a:xfrm>
            <a:off x="169412" y="6436585"/>
            <a:ext cx="439183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400" b="1" dirty="0">
                <a:latin typeface="Branding Black" panose="00000A00000000000000" pitchFamily="50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55279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12EA250C-B730-2CEB-9B63-8093001D4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4109" y="345653"/>
            <a:ext cx="590670" cy="414236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C5EF651-2DA5-0E70-EFF7-9488FEEFB47A}"/>
              </a:ext>
            </a:extLst>
          </p:cNvPr>
          <p:cNvGrpSpPr/>
          <p:nvPr/>
        </p:nvGrpSpPr>
        <p:grpSpPr>
          <a:xfrm>
            <a:off x="6096000" y="5838415"/>
            <a:ext cx="6096000" cy="1143000"/>
            <a:chOff x="6096000" y="5838415"/>
            <a:chExt cx="6096000" cy="1143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728628C8-8C44-0CBC-DF6C-CEC9E1371D2D}"/>
                </a:ext>
              </a:extLst>
            </p:cNvPr>
            <p:cNvSpPr/>
            <p:nvPr/>
          </p:nvSpPr>
          <p:spPr>
            <a:xfrm>
              <a:off x="6096000" y="6675368"/>
              <a:ext cx="6096000" cy="182632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14143C"/>
                </a:solidFill>
              </a:endParaRPr>
            </a:p>
          </p:txBody>
        </p:sp>
        <p:pic>
          <p:nvPicPr>
            <p:cNvPr id="2050" name="Picture 2" descr="FIESC">
              <a:extLst>
                <a:ext uri="{FF2B5EF4-FFF2-40B4-BE49-F238E27FC236}">
                  <a16:creationId xmlns:a16="http://schemas.microsoft.com/office/drawing/2014/main" id="{1A67935A-584C-E520-7BC5-40CB572B17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88988" y="5838415"/>
              <a:ext cx="21336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36E23A-FA9B-49C2-6A13-B4C678B63766}"/>
                </a:ext>
              </a:extLst>
            </p:cNvPr>
            <p:cNvSpPr txBox="1"/>
            <p:nvPr/>
          </p:nvSpPr>
          <p:spPr>
            <a:xfrm>
              <a:off x="10167827" y="6628184"/>
              <a:ext cx="15759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b="1" i="1" dirty="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SESI – SENAI - IEL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ABC419-57D1-DC08-DEDD-10F41CB6B7FD}"/>
              </a:ext>
            </a:extLst>
          </p:cNvPr>
          <p:cNvSpPr txBox="1"/>
          <p:nvPr/>
        </p:nvSpPr>
        <p:spPr>
          <a:xfrm>
            <a:off x="666044" y="1898768"/>
            <a:ext cx="1085991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FIM.</a:t>
            </a:r>
          </a:p>
          <a:p>
            <a:pPr algn="ctr"/>
            <a:r>
              <a:rPr lang="pt-BR" sz="8800" dirty="0">
                <a:latin typeface="Arial Black" panose="020B0A04020102020204" pitchFamily="34" charset="0"/>
                <a:cs typeface="Arial" panose="020B0604020202020204" pitchFamily="34" charset="0"/>
              </a:rPr>
              <a:t>OBRIGADO.</a:t>
            </a:r>
          </a:p>
        </p:txBody>
      </p:sp>
    </p:spTree>
    <p:extLst>
      <p:ext uri="{BB962C8B-B14F-4D97-AF65-F5344CB8AC3E}">
        <p14:creationId xmlns:p14="http://schemas.microsoft.com/office/powerpoint/2010/main" val="18544453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14CAD5C0D95047AD87A6CEF9A0ED6F" ma:contentTypeVersion="11" ma:contentTypeDescription="Crie um novo documento." ma:contentTypeScope="" ma:versionID="0eaeb304f0019e33f865282dd94b7faa">
  <xsd:schema xmlns:xsd="http://www.w3.org/2001/XMLSchema" xmlns:xs="http://www.w3.org/2001/XMLSchema" xmlns:p="http://schemas.microsoft.com/office/2006/metadata/properties" xmlns:ns2="230e2427-5d80-4bd2-a9ba-53805cfde8a4" xmlns:ns3="cf5f2b4c-ceff-48b8-acfd-b6c7cb4e26ae" targetNamespace="http://schemas.microsoft.com/office/2006/metadata/properties" ma:root="true" ma:fieldsID="9583cfaf6218e9ef312e531a09f9933a" ns2:_="" ns3:_="">
    <xsd:import namespace="230e2427-5d80-4bd2-a9ba-53805cfde8a4"/>
    <xsd:import namespace="cf5f2b4c-ceff-48b8-acfd-b6c7cb4e26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2427-5d80-4bd2-a9ba-53805cfde8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184c8c62-af11-4a97-95e1-881613c396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5f2b4c-ceff-48b8-acfd-b6c7cb4e26a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Coluna Global de Taxonomia" ma:hidden="true" ma:list="{1a311de7-e6e4-47ae-b214-720c4e04d295}" ma:internalName="TaxCatchAll" ma:showField="CatchAllData" ma:web="cf5f2b4c-ceff-48b8-acfd-b6c7cb4e26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5f2b4c-ceff-48b8-acfd-b6c7cb4e26ae" xsi:nil="true"/>
    <lcf76f155ced4ddcb4097134ff3c332f xmlns="230e2427-5d80-4bd2-a9ba-53805cfde8a4">
      <Terms xmlns="http://schemas.microsoft.com/office/infopath/2007/PartnerControls"/>
    </lcf76f155ced4ddcb4097134ff3c332f>
    <SharedWithUsers xmlns="cf5f2b4c-ceff-48b8-acfd-b6c7cb4e26ae">
      <UserInfo>
        <DisplayName>Marcos Paulo Carvalho De Oliveira</DisplayName>
        <AccountId>9264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CD03E9-41C4-42C6-A5E8-47AC9D6E1F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0e2427-5d80-4bd2-a9ba-53805cfde8a4"/>
    <ds:schemaRef ds:uri="cf5f2b4c-ceff-48b8-acfd-b6c7cb4e26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5A2D76-B89D-43D9-81CC-F73DB603259F}">
  <ds:schemaRefs>
    <ds:schemaRef ds:uri="http://schemas.microsoft.com/office/infopath/2007/PartnerControls"/>
    <ds:schemaRef ds:uri="230e2427-5d80-4bd2-a9ba-53805cfde8a4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cf5f2b4c-ceff-48b8-acfd-b6c7cb4e26ae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54C6406-39F0-4F36-B3D7-F12E598C196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6221</TotalTime>
  <Words>391</Words>
  <Application>Microsoft Office PowerPoint</Application>
  <PresentationFormat>Widescreen</PresentationFormat>
  <Paragraphs>56</Paragraphs>
  <Slides>24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3" baseType="lpstr">
      <vt:lpstr>Verdana</vt:lpstr>
      <vt:lpstr>Arial</vt:lpstr>
      <vt:lpstr>Calibri</vt:lpstr>
      <vt:lpstr>Branding Black</vt:lpstr>
      <vt:lpstr>Aharoni</vt:lpstr>
      <vt:lpstr>Wingdings</vt:lpstr>
      <vt:lpstr>Arial Black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MER</vt:lpstr>
      <vt:lpstr>Apresentação do PowerPoint</vt:lpstr>
      <vt:lpstr>MRN</vt:lpstr>
      <vt:lpstr>Apresentação do PowerPoint</vt:lpstr>
      <vt:lpstr>Apresentação do PowerPoint</vt:lpstr>
      <vt:lpstr>DICIONARIO DO BANCO DE DADOS </vt:lpstr>
      <vt:lpstr>DICIONARIO DO BANCO DE DADOS</vt:lpstr>
      <vt:lpstr>Apresentação do PowerPoint</vt:lpstr>
      <vt:lpstr>.</vt:lpstr>
      <vt:lpstr>COMANDO PARA CADASTRAR</vt:lpstr>
      <vt:lpstr>.</vt:lpstr>
      <vt:lpstr>COMANDO PARA ALTERAR DADOS</vt:lpstr>
      <vt:lpstr>COMANDO</vt:lpstr>
      <vt:lpstr>Apresentação do PowerPoint</vt:lpstr>
      <vt:lpstr>.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Senai</dc:title>
  <dc:creator>Sergio Luiz Da Silveira</dc:creator>
  <cp:lastModifiedBy>MATHEUS RODRIGUES</cp:lastModifiedBy>
  <cp:revision>278</cp:revision>
  <dcterms:created xsi:type="dcterms:W3CDTF">2022-03-17T13:16:59Z</dcterms:created>
  <dcterms:modified xsi:type="dcterms:W3CDTF">2025-05-22T19:56:23Z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0x0101003014CAD5C0D95047AD87A6CEF9A0ED6F</vt:lpwstr>
  </property>
  <property fmtid="{D5CDD505-2E9C-101B-9397-08002B2CF9AE}" pid="3" name="MediaServiceImageTags">
    <vt:lpwstr/>
  </property>
</Properties>
</file>